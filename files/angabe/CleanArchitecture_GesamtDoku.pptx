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6"/>
  </p:notesMasterIdLst>
  <p:handoutMasterIdLst>
    <p:handoutMasterId r:id="rId47"/>
  </p:handoutMasterIdLst>
  <p:sldIdLst>
    <p:sldId id="1263" r:id="rId2"/>
    <p:sldId id="1264" r:id="rId3"/>
    <p:sldId id="1259" r:id="rId4"/>
    <p:sldId id="1357" r:id="rId5"/>
    <p:sldId id="1267" r:id="rId6"/>
    <p:sldId id="1358" r:id="rId7"/>
    <p:sldId id="1269" r:id="rId8"/>
    <p:sldId id="1270" r:id="rId9"/>
    <p:sldId id="1359" r:id="rId10"/>
    <p:sldId id="1360" r:id="rId11"/>
    <p:sldId id="1271" r:id="rId12"/>
    <p:sldId id="1361" r:id="rId13"/>
    <p:sldId id="1362" r:id="rId14"/>
    <p:sldId id="1363" r:id="rId15"/>
    <p:sldId id="1292" r:id="rId16"/>
    <p:sldId id="1256" r:id="rId17"/>
    <p:sldId id="1262" r:id="rId18"/>
    <p:sldId id="1265" r:id="rId19"/>
    <p:sldId id="1266" r:id="rId20"/>
    <p:sldId id="1298" r:id="rId21"/>
    <p:sldId id="1364" r:id="rId22"/>
    <p:sldId id="1365" r:id="rId23"/>
    <p:sldId id="1366" r:id="rId24"/>
    <p:sldId id="1367" r:id="rId25"/>
    <p:sldId id="1368" r:id="rId26"/>
    <p:sldId id="1369" r:id="rId27"/>
    <p:sldId id="1370" r:id="rId28"/>
    <p:sldId id="1371" r:id="rId29"/>
    <p:sldId id="1372" r:id="rId30"/>
    <p:sldId id="1373" r:id="rId31"/>
    <p:sldId id="1375" r:id="rId32"/>
    <p:sldId id="1376" r:id="rId33"/>
    <p:sldId id="1374" r:id="rId34"/>
    <p:sldId id="1380" r:id="rId35"/>
    <p:sldId id="1378" r:id="rId36"/>
    <p:sldId id="1377" r:id="rId37"/>
    <p:sldId id="1379" r:id="rId38"/>
    <p:sldId id="1381" r:id="rId39"/>
    <p:sldId id="1382" r:id="rId40"/>
    <p:sldId id="1383" r:id="rId41"/>
    <p:sldId id="1384" r:id="rId42"/>
    <p:sldId id="1385" r:id="rId43"/>
    <p:sldId id="1386" r:id="rId44"/>
    <p:sldId id="1387" r:id="rId45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25" autoAdjust="0"/>
    <p:restoredTop sz="94737" autoAdjust="0"/>
  </p:normalViewPr>
  <p:slideViewPr>
    <p:cSldViewPr>
      <p:cViewPr varScale="1">
        <p:scale>
          <a:sx n="107" d="100"/>
          <a:sy n="107" d="100"/>
        </p:scale>
        <p:origin x="186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21.10.2025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21.10.2025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SOLID</a:t>
            </a:r>
            <a:r>
              <a:rPr lang="de-DE" dirty="0"/>
              <a:t> ist ein Akronym für fünf zentrale Prinzipien der objektorientierten Programmierung (OOP), die helfen sollen, Software </a:t>
            </a:r>
            <a:r>
              <a:rPr lang="de-DE" b="1" dirty="0"/>
              <a:t>sauberer, wartbarer und erweiterbarer</a:t>
            </a:r>
            <a:r>
              <a:rPr lang="de-DE" dirty="0"/>
              <a:t> zu gestalten.</a:t>
            </a:r>
          </a:p>
          <a:p>
            <a:r>
              <a:rPr lang="de-DE" dirty="0"/>
              <a:t>Hier die fünf Prinzipien im Überblick: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dirty="0"/>
              <a:t>🔹 S – Single </a:t>
            </a:r>
            <a:r>
              <a:rPr lang="de-DE" b="1" dirty="0" err="1"/>
              <a:t>Responsibility</a:t>
            </a:r>
            <a:r>
              <a:rPr lang="de-DE" b="1" dirty="0"/>
              <a:t> </a:t>
            </a:r>
            <a:r>
              <a:rPr lang="de-DE" b="1" dirty="0" err="1"/>
              <a:t>Principle</a:t>
            </a:r>
            <a:r>
              <a:rPr lang="de-DE" b="1" dirty="0"/>
              <a:t> (SRP)</a:t>
            </a:r>
          </a:p>
          <a:p>
            <a:r>
              <a:rPr lang="de-DE" dirty="0"/>
              <a:t>„Eine Klasse sollte nur eine einzige Verantwortung haben.“</a:t>
            </a:r>
          </a:p>
          <a:p>
            <a:r>
              <a:rPr lang="de-DE" dirty="0"/>
              <a:t>Jede Klasse/Modul sollte nur für </a:t>
            </a:r>
            <a:r>
              <a:rPr lang="de-DE" b="1" dirty="0"/>
              <a:t>eine Sache</a:t>
            </a:r>
            <a:r>
              <a:rPr lang="de-DE" dirty="0"/>
              <a:t> zuständig sein.</a:t>
            </a:r>
          </a:p>
          <a:p>
            <a:r>
              <a:rPr lang="de-DE" dirty="0"/>
              <a:t>Vorteil: Weniger Abhängigkeiten, Änderungen sind leichter und übersichtlicher.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dirty="0"/>
              <a:t>🔹 O – Open/</a:t>
            </a:r>
            <a:r>
              <a:rPr lang="de-DE" b="1" dirty="0" err="1"/>
              <a:t>Closed</a:t>
            </a:r>
            <a:r>
              <a:rPr lang="de-DE" b="1" dirty="0"/>
              <a:t> </a:t>
            </a:r>
            <a:r>
              <a:rPr lang="de-DE" b="1" dirty="0" err="1"/>
              <a:t>Principle</a:t>
            </a:r>
            <a:r>
              <a:rPr lang="de-DE" b="1" dirty="0"/>
              <a:t> (OCP)</a:t>
            </a:r>
          </a:p>
          <a:p>
            <a:r>
              <a:rPr lang="de-DE" dirty="0"/>
              <a:t>„Software-Entitäten sollen offen für Erweiterung, aber geschlossen für Modifikation sein.“</a:t>
            </a:r>
          </a:p>
          <a:p>
            <a:r>
              <a:rPr lang="de-DE" dirty="0"/>
              <a:t>Neue Funktionalität soll durch </a:t>
            </a:r>
            <a:r>
              <a:rPr lang="de-DE" b="1" dirty="0"/>
              <a:t>Erweiterung</a:t>
            </a:r>
            <a:r>
              <a:rPr lang="de-DE" dirty="0"/>
              <a:t>, nicht durch Änderung des bestehenden Codes umgesetzt werden.</a:t>
            </a:r>
          </a:p>
          <a:p>
            <a:r>
              <a:rPr lang="de-DE" dirty="0"/>
              <a:t>Beispiel: Statt eine bestehende Klasse zu ändern, erstellt man eine neue, die erweitert oder implementiert.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dirty="0"/>
              <a:t>🔹 L – </a:t>
            </a:r>
            <a:r>
              <a:rPr lang="de-DE" b="1" dirty="0" err="1"/>
              <a:t>Liskov</a:t>
            </a:r>
            <a:r>
              <a:rPr lang="de-DE" b="1" dirty="0"/>
              <a:t> Substitution </a:t>
            </a:r>
            <a:r>
              <a:rPr lang="de-DE" b="1" dirty="0" err="1"/>
              <a:t>Principle</a:t>
            </a:r>
            <a:r>
              <a:rPr lang="de-DE" b="1" dirty="0"/>
              <a:t> (LSP)</a:t>
            </a:r>
          </a:p>
          <a:p>
            <a:r>
              <a:rPr lang="de-DE" dirty="0"/>
              <a:t>„Objekte einer abgeleiteten Klasse sollen sich so verhalten, dass sie überall als Objekte der Basisklasse einsetzbar sind.“</a:t>
            </a:r>
          </a:p>
          <a:p>
            <a:r>
              <a:rPr lang="de-DE" dirty="0"/>
              <a:t>Ein </a:t>
            </a:r>
            <a:r>
              <a:rPr lang="de-DE" b="1" dirty="0"/>
              <a:t>Subtyp</a:t>
            </a:r>
            <a:r>
              <a:rPr lang="de-DE" dirty="0"/>
              <a:t> muss sich wie sein </a:t>
            </a:r>
            <a:r>
              <a:rPr lang="de-DE" b="1" dirty="0"/>
              <a:t>Supertyp</a:t>
            </a:r>
            <a:r>
              <a:rPr lang="de-DE" dirty="0"/>
              <a:t> verhalten.</a:t>
            </a:r>
          </a:p>
          <a:p>
            <a:r>
              <a:rPr lang="de-DE" dirty="0"/>
              <a:t>Verletzung z. B.: Wenn eine Unterklasse Methoden überschreibt, aber konträre Logik einführt.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dirty="0"/>
              <a:t>🔹 I – Interface Segregation </a:t>
            </a:r>
            <a:r>
              <a:rPr lang="de-DE" b="1" dirty="0" err="1"/>
              <a:t>Principle</a:t>
            </a:r>
            <a:r>
              <a:rPr lang="de-DE" b="1" dirty="0"/>
              <a:t> (ISP)</a:t>
            </a:r>
          </a:p>
          <a:p>
            <a:r>
              <a:rPr lang="de-DE" dirty="0"/>
              <a:t>„Viele kleine, spezifische Schnittstellen sind besser als eine große, allgemeine.“</a:t>
            </a:r>
          </a:p>
          <a:p>
            <a:r>
              <a:rPr lang="de-DE" dirty="0"/>
              <a:t>Clients sollen </a:t>
            </a:r>
            <a:r>
              <a:rPr lang="de-DE" b="1" dirty="0"/>
              <a:t>nicht gezwungen</a:t>
            </a:r>
            <a:r>
              <a:rPr lang="de-DE" dirty="0"/>
              <a:t> sein, Methoden zu implementieren, die sie nicht benötigen.</a:t>
            </a:r>
          </a:p>
          <a:p>
            <a:r>
              <a:rPr lang="de-DE" dirty="0"/>
              <a:t>Besser: Mehrere kleine Interfaces statt ein riesiges „</a:t>
            </a:r>
            <a:r>
              <a:rPr lang="de-DE" dirty="0" err="1"/>
              <a:t>God</a:t>
            </a:r>
            <a:r>
              <a:rPr lang="de-DE" dirty="0"/>
              <a:t>-Interface“.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dirty="0"/>
              <a:t>🔹 D – </a:t>
            </a:r>
            <a:r>
              <a:rPr lang="de-DE" b="1" dirty="0" err="1"/>
              <a:t>Dependency</a:t>
            </a:r>
            <a:r>
              <a:rPr lang="de-DE" b="1" dirty="0"/>
              <a:t> Inversion </a:t>
            </a:r>
            <a:r>
              <a:rPr lang="de-DE" b="1" dirty="0" err="1"/>
              <a:t>Principle</a:t>
            </a:r>
            <a:r>
              <a:rPr lang="de-DE" b="1" dirty="0"/>
              <a:t> (DIP)</a:t>
            </a:r>
          </a:p>
          <a:p>
            <a:r>
              <a:rPr lang="de-DE" dirty="0"/>
              <a:t>„High-Level-Module sollten nicht von Low-Level-Modulen abhängen. Beide sollten von Abstraktionen abhängen.“</a:t>
            </a:r>
          </a:p>
          <a:p>
            <a:r>
              <a:rPr lang="de-DE" dirty="0"/>
              <a:t>Abhängigkeiten sollen über </a:t>
            </a:r>
            <a:r>
              <a:rPr lang="de-DE" b="1" dirty="0"/>
              <a:t>Abstraktionen (Interfaces)</a:t>
            </a:r>
            <a:r>
              <a:rPr lang="de-DE" dirty="0"/>
              <a:t> definiert werden, nicht über konkrete Implementierungen.</a:t>
            </a:r>
          </a:p>
          <a:p>
            <a:r>
              <a:rPr lang="de-DE" dirty="0"/>
              <a:t>Fördert </a:t>
            </a:r>
            <a:r>
              <a:rPr lang="de-DE" b="1" dirty="0"/>
              <a:t>lose Kopplung</a:t>
            </a:r>
            <a:r>
              <a:rPr lang="de-DE" dirty="0"/>
              <a:t> und </a:t>
            </a:r>
            <a:r>
              <a:rPr lang="de-DE" b="1" dirty="0"/>
              <a:t>leichteres Testen</a:t>
            </a:r>
            <a:r>
              <a:rPr lang="de-DE" dirty="0"/>
              <a:t> (z. B. durch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).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918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zzylearning.net/tutorial/building-blazor-webassembly-apps-with-clean-architecture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CFD6A9-F9AD-6CBF-1AF9-AAC66881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Basis-Template für </a:t>
            </a:r>
            <a:r>
              <a:rPr lang="de-AT" dirty="0" err="1"/>
              <a:t>Blazor</a:t>
            </a:r>
            <a:r>
              <a:rPr lang="de-AT" dirty="0"/>
              <a:t>-Apps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88B923-9DC2-C85D-6E54-90A0E91889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Basierend auf anerkannten Pattern</a:t>
            </a:r>
          </a:p>
          <a:p>
            <a:pPr lvl="1"/>
            <a:r>
              <a:rPr lang="de-AT" dirty="0"/>
              <a:t>Clean-Architecture</a:t>
            </a:r>
          </a:p>
          <a:p>
            <a:pPr lvl="1"/>
            <a:r>
              <a:rPr lang="de-AT" dirty="0" err="1"/>
              <a:t>UnitOfWork</a:t>
            </a:r>
            <a:r>
              <a:rPr lang="de-AT" dirty="0"/>
              <a:t>/Repository-Pattern</a:t>
            </a:r>
          </a:p>
          <a:p>
            <a:pPr lvl="1"/>
            <a:r>
              <a:rPr lang="de-AT" dirty="0"/>
              <a:t>CQRS und Mediator-Pattern</a:t>
            </a:r>
          </a:p>
          <a:p>
            <a:r>
              <a:rPr lang="de-AT" dirty="0"/>
              <a:t>OO-Basisprogrammiertechniken</a:t>
            </a:r>
          </a:p>
          <a:p>
            <a:pPr lvl="1"/>
            <a:r>
              <a:rPr lang="de-AT" dirty="0"/>
              <a:t>SOLID</a:t>
            </a:r>
          </a:p>
          <a:p>
            <a:pPr lvl="1"/>
            <a:r>
              <a:rPr lang="de-AT" dirty="0"/>
              <a:t>DRY</a:t>
            </a:r>
          </a:p>
          <a:p>
            <a:pPr lvl="2"/>
            <a:r>
              <a:rPr lang="de-AT" dirty="0" err="1"/>
              <a:t>Don‘t</a:t>
            </a:r>
            <a:r>
              <a:rPr lang="de-AT" dirty="0"/>
              <a:t> </a:t>
            </a:r>
            <a:r>
              <a:rPr lang="de-AT" dirty="0" err="1"/>
              <a:t>repeat</a:t>
            </a:r>
            <a:r>
              <a:rPr lang="de-AT" dirty="0"/>
              <a:t> </a:t>
            </a:r>
            <a:r>
              <a:rPr lang="de-AT" dirty="0" err="1"/>
              <a:t>yourself</a:t>
            </a:r>
            <a:endParaRPr lang="de-AT" dirty="0"/>
          </a:p>
          <a:p>
            <a:pPr lvl="1"/>
            <a:r>
              <a:rPr lang="de-AT" dirty="0"/>
              <a:t>Verwendung Tests zur Qualitätssicherung</a:t>
            </a:r>
          </a:p>
        </p:txBody>
      </p:sp>
    </p:spTree>
    <p:extLst>
      <p:ext uri="{BB962C8B-B14F-4D97-AF65-F5344CB8AC3E}">
        <p14:creationId xmlns:p14="http://schemas.microsoft.com/office/powerpoint/2010/main" val="183201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3A97A-BE02-D547-3A89-0ACFFAA4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SOLID – wartbar und sauber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F2B93A-D39B-E971-4DA3-12E118E1E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400" dirty="0"/>
              <a:t>S - Single </a:t>
            </a:r>
            <a:r>
              <a:rPr lang="de-AT" sz="2400" dirty="0" err="1"/>
              <a:t>Responsibility</a:t>
            </a:r>
            <a:r>
              <a:rPr lang="de-AT" sz="2400" dirty="0"/>
              <a:t> </a:t>
            </a:r>
            <a:r>
              <a:rPr lang="de-AT" sz="2400" dirty="0" err="1"/>
              <a:t>Principle</a:t>
            </a:r>
            <a:r>
              <a:rPr lang="de-AT" sz="2400" dirty="0"/>
              <a:t> (SRP)</a:t>
            </a:r>
          </a:p>
          <a:p>
            <a:pPr lvl="1"/>
            <a:r>
              <a:rPr lang="de-DE" sz="1800" dirty="0"/>
              <a:t>Eine Klasse sollte nur eine einzige Verantwortung haben</a:t>
            </a:r>
            <a:endParaRPr lang="de-AT" sz="1800" dirty="0"/>
          </a:p>
          <a:p>
            <a:r>
              <a:rPr lang="de-AT" sz="2400" dirty="0"/>
              <a:t>O - </a:t>
            </a:r>
            <a:r>
              <a:rPr lang="en-US" sz="2400" dirty="0"/>
              <a:t>Open/Closed Principle (OCP)</a:t>
            </a:r>
          </a:p>
          <a:p>
            <a:pPr lvl="1"/>
            <a:r>
              <a:rPr lang="de-DE" sz="1800" dirty="0"/>
              <a:t>Neue Funktionalität soll durch </a:t>
            </a:r>
            <a:r>
              <a:rPr lang="de-DE" sz="1800" b="1" dirty="0"/>
              <a:t>Erweiterung</a:t>
            </a:r>
            <a:r>
              <a:rPr lang="de-DE" sz="1800" dirty="0"/>
              <a:t>, nicht durch Änderung des bestehenden Codes umgesetzt werden.</a:t>
            </a:r>
            <a:endParaRPr lang="en-US" sz="1800" dirty="0"/>
          </a:p>
          <a:p>
            <a:r>
              <a:rPr lang="en-US" sz="2400" dirty="0"/>
              <a:t>L - </a:t>
            </a:r>
            <a:r>
              <a:rPr lang="de-AT" sz="2400" dirty="0" err="1"/>
              <a:t>Liskov</a:t>
            </a:r>
            <a:r>
              <a:rPr lang="de-AT" sz="2400" dirty="0"/>
              <a:t> Substitution </a:t>
            </a:r>
            <a:r>
              <a:rPr lang="de-AT" sz="2400" dirty="0" err="1"/>
              <a:t>Principle</a:t>
            </a:r>
            <a:r>
              <a:rPr lang="de-AT" sz="2400" dirty="0"/>
              <a:t> (LSP)</a:t>
            </a:r>
          </a:p>
          <a:p>
            <a:pPr lvl="1"/>
            <a:r>
              <a:rPr lang="de-DE" sz="1800" dirty="0"/>
              <a:t>Objekte einer abgeleiteten Klasse sollen sich so verhalten, dass sie überall als Objekte der Basisklasse einsetzbar sind.</a:t>
            </a:r>
            <a:endParaRPr lang="de-AT" sz="1800" dirty="0"/>
          </a:p>
          <a:p>
            <a:r>
              <a:rPr lang="de-AT" sz="2400" dirty="0"/>
              <a:t>I - Interface Segregation </a:t>
            </a:r>
            <a:r>
              <a:rPr lang="de-AT" sz="2400" dirty="0" err="1"/>
              <a:t>Principle</a:t>
            </a:r>
            <a:r>
              <a:rPr lang="de-AT" sz="2400" dirty="0"/>
              <a:t> (ISP)</a:t>
            </a:r>
          </a:p>
          <a:p>
            <a:pPr lvl="1"/>
            <a:r>
              <a:rPr lang="de-DE" sz="1800" dirty="0"/>
              <a:t>Viele kleine, spezifische Schnittstellen sind besser als eine große, allgemeine.</a:t>
            </a:r>
            <a:endParaRPr lang="de-AT" sz="1800" dirty="0"/>
          </a:p>
          <a:p>
            <a:r>
              <a:rPr lang="de-AT" sz="2400" dirty="0"/>
              <a:t>D - </a:t>
            </a:r>
            <a:r>
              <a:rPr lang="de-AT" sz="2400" dirty="0" err="1"/>
              <a:t>Dependency</a:t>
            </a:r>
            <a:r>
              <a:rPr lang="de-AT" sz="2400" dirty="0"/>
              <a:t> Inversion </a:t>
            </a:r>
            <a:r>
              <a:rPr lang="de-AT" sz="2400" dirty="0" err="1"/>
              <a:t>Principle</a:t>
            </a:r>
            <a:r>
              <a:rPr lang="de-AT" sz="2400" dirty="0"/>
              <a:t> (DIP)</a:t>
            </a:r>
          </a:p>
          <a:p>
            <a:pPr lvl="1"/>
            <a:r>
              <a:rPr lang="de-DE" sz="1800" dirty="0"/>
              <a:t>Abhängigkeiten sollen über Abstraktionen (Interfaces) definiert werden, nicht über konkrete Implementierungen.</a:t>
            </a:r>
            <a:endParaRPr lang="de-AT" sz="1800" dirty="0"/>
          </a:p>
          <a:p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366532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08BF64-D6EF-5E4F-6593-DF0139D1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Abhängigkeiten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4474-96BA-8B35-CAB0-68808E21F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1026" name="Picture 2" descr="c# - How to register Infrastructure layer dependencies in Clean Architecture  using .NET 6? - Stack Overflow">
            <a:extLst>
              <a:ext uri="{FF2B5EF4-FFF2-40B4-BE49-F238E27FC236}">
                <a16:creationId xmlns:a16="http://schemas.microsoft.com/office/drawing/2014/main" id="{036C34BA-5019-2ACC-23B8-5F9BA30BF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2" y="1148726"/>
            <a:ext cx="5597798" cy="532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85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45C98-B7E1-21F5-5335-B305BCF6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Im </a:t>
            </a:r>
            <a:r>
              <a:rPr lang="de-AT" dirty="0" err="1"/>
              <a:t>Solutionexplorer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05D49B-FA3C-2B9B-24CF-1D0AA40587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E63CEE-1B1F-E63C-6A90-EE718CF38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81075"/>
            <a:ext cx="7204212" cy="388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8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F91889-9249-AB2B-F26E-699B1D6C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Domain-Layer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BCA51D-3F8E-0C2A-D8D4-54371B6E3E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Abstrakte Basis-</a:t>
            </a:r>
            <a:r>
              <a:rPr lang="de-AT" sz="2400" dirty="0" err="1"/>
              <a:t>Entities</a:t>
            </a:r>
            <a:r>
              <a:rPr lang="de-AT" sz="2400" dirty="0"/>
              <a:t> mit </a:t>
            </a:r>
            <a:r>
              <a:rPr lang="de-AT" sz="2400" dirty="0" err="1"/>
              <a:t>Id</a:t>
            </a:r>
            <a:r>
              <a:rPr lang="de-AT" sz="2400" dirty="0"/>
              <a:t> und </a:t>
            </a:r>
            <a:r>
              <a:rPr lang="de-AT" sz="2400" dirty="0" err="1"/>
              <a:t>RowVersion</a:t>
            </a:r>
            <a:r>
              <a:rPr lang="de-AT" sz="2400" dirty="0"/>
              <a:t> (DRY)</a:t>
            </a:r>
          </a:p>
          <a:p>
            <a:r>
              <a:rPr lang="de-AT" sz="2400" dirty="0"/>
              <a:t>Domain-</a:t>
            </a:r>
            <a:r>
              <a:rPr lang="de-AT" sz="2400" dirty="0" err="1"/>
              <a:t>Entities</a:t>
            </a:r>
            <a:endParaRPr lang="de-AT" sz="2400" dirty="0"/>
          </a:p>
          <a:p>
            <a:pPr lvl="1"/>
            <a:r>
              <a:rPr lang="de-AT" sz="2200" dirty="0"/>
              <a:t>Validierungen, die auf Geschäftslogik beruhen</a:t>
            </a:r>
          </a:p>
          <a:p>
            <a:pPr lvl="2"/>
            <a:r>
              <a:rPr lang="de-AT" sz="1800" dirty="0"/>
              <a:t>Z.B. Maximaler Rabatt ist abhängig vom bisherigen Umsatz</a:t>
            </a:r>
          </a:p>
          <a:p>
            <a:pPr lvl="2"/>
            <a:r>
              <a:rPr lang="de-AT" sz="1800" dirty="0"/>
              <a:t>Sichern Konsistenz in Datenbank</a:t>
            </a:r>
          </a:p>
          <a:p>
            <a:pPr lvl="1"/>
            <a:r>
              <a:rPr lang="de-AT" sz="2000" dirty="0"/>
              <a:t>Wiederverwendbar definiert in </a:t>
            </a:r>
            <a:r>
              <a:rPr lang="de-AT" sz="2000" dirty="0" err="1"/>
              <a:t>Specifications</a:t>
            </a:r>
            <a:endParaRPr lang="de-AT" sz="2000" dirty="0"/>
          </a:p>
          <a:p>
            <a:r>
              <a:rPr lang="de-AT" sz="2400" dirty="0"/>
              <a:t>Notwendige </a:t>
            </a:r>
            <a:r>
              <a:rPr lang="de-AT" sz="2400" dirty="0" err="1"/>
              <a:t>Contracts</a:t>
            </a:r>
            <a:r>
              <a:rPr lang="de-AT" sz="2400" dirty="0"/>
              <a:t> (Interfaces) für Entity-übergreifende Business-Logik</a:t>
            </a:r>
          </a:p>
        </p:txBody>
      </p:sp>
    </p:spTree>
    <p:extLst>
      <p:ext uri="{BB962C8B-B14F-4D97-AF65-F5344CB8AC3E}">
        <p14:creationId xmlns:p14="http://schemas.microsoft.com/office/powerpoint/2010/main" val="218148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088A5-089B-AE3E-8234-7991D5A2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Domainlayer</a:t>
            </a:r>
            <a:r>
              <a:rPr lang="de-AT" dirty="0"/>
              <a:t> mit Template-Code (grün)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2DB022-3684-B08C-22F4-12591CADF0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86CB46-D8E3-A246-BE12-FC4CF5130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052736"/>
            <a:ext cx="4752528" cy="516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1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FFBCBB-EBF0-D6B0-96F9-8BFED533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BaseEntity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7CC4E1-C5C2-4D36-C073-594B17509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EE602D-0B04-DE20-1923-6F30EB157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" y="1556792"/>
            <a:ext cx="9144000" cy="303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1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0D7EF-28F0-9E55-A910-6700AE5E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DomainValidationException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59A253-907C-528D-AA5F-2AFB17EEB3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1124744"/>
            <a:ext cx="8207375" cy="4608165"/>
          </a:xfrm>
        </p:spPr>
        <p:txBody>
          <a:bodyPr/>
          <a:lstStyle/>
          <a:p>
            <a:r>
              <a:rPr lang="de-AT" sz="2400" dirty="0" err="1"/>
              <a:t>Entities</a:t>
            </a:r>
            <a:r>
              <a:rPr lang="de-AT" sz="2400" dirty="0"/>
              <a:t> prüfen ihren Status und liefern im Fehlerfall </a:t>
            </a:r>
            <a:r>
              <a:rPr lang="de-AT" sz="2400" dirty="0" err="1"/>
              <a:t>DomainValidationException</a:t>
            </a:r>
            <a:endParaRPr lang="de-AT" sz="2400" dirty="0"/>
          </a:p>
          <a:p>
            <a:pPr lvl="1"/>
            <a:r>
              <a:rPr lang="de-AT" sz="2200" dirty="0"/>
              <a:t>Verwenden zur Prüfung die entsprechenden </a:t>
            </a:r>
            <a:r>
              <a:rPr lang="de-AT" sz="2200" dirty="0" err="1"/>
              <a:t>ValidationSpecifications</a:t>
            </a:r>
            <a:endParaRPr lang="de-AT" sz="2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2A3DBD3-6FDC-86C1-8C01-76BB7AA8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960"/>
            <a:ext cx="9144000" cy="178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0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083CD-D0B2-46A3-37E0-F289EA44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DomainValidationResult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61A978-4986-C4C3-C519-B466D15A0B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Validierungsmethoden auf Domainebene</a:t>
            </a:r>
          </a:p>
          <a:p>
            <a:r>
              <a:rPr lang="de-AT" dirty="0"/>
              <a:t>Werden in </a:t>
            </a:r>
            <a:r>
              <a:rPr lang="de-AT" dirty="0" err="1"/>
              <a:t>ValidationSpecifications</a:t>
            </a:r>
            <a:r>
              <a:rPr lang="de-AT" dirty="0"/>
              <a:t> verwendet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1DFBBA9-6087-0154-BC75-0029791C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88" y="2852936"/>
            <a:ext cx="9144000" cy="19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452181-146D-8200-4E34-3A9D723C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Domain-Entity - Verantwortlichkeit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502B56-7FA0-62E5-D93F-DBFADFE4D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CRUD-Funktionalität für Entity</a:t>
            </a:r>
          </a:p>
          <a:p>
            <a:r>
              <a:rPr lang="de-AT" dirty="0"/>
              <a:t>Verwalten des gültigen Zustands </a:t>
            </a:r>
          </a:p>
          <a:p>
            <a:pPr lvl="1"/>
            <a:r>
              <a:rPr lang="de-AT" dirty="0"/>
              <a:t>Validierung auf Basis von </a:t>
            </a:r>
            <a:r>
              <a:rPr lang="de-AT" dirty="0" err="1"/>
              <a:t>ValidationSpecifications</a:t>
            </a:r>
            <a:endParaRPr lang="de-AT" dirty="0"/>
          </a:p>
          <a:p>
            <a:pPr lvl="1"/>
            <a:r>
              <a:rPr lang="de-AT" dirty="0"/>
              <a:t>Verhinderung, dass Zustand (Properties) direkt manipuliert werden</a:t>
            </a:r>
          </a:p>
          <a:p>
            <a:pPr lvl="2"/>
            <a:r>
              <a:rPr lang="de-AT" dirty="0"/>
              <a:t>Private Setter</a:t>
            </a:r>
          </a:p>
          <a:p>
            <a:pPr lvl="2"/>
            <a:r>
              <a:rPr lang="de-AT" dirty="0"/>
              <a:t>Private </a:t>
            </a:r>
            <a:r>
              <a:rPr lang="de-AT" dirty="0" err="1"/>
              <a:t>Constructor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33649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8ECDA-2067-9EB7-ACF4-F6FD3CEB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Beispielentity</a:t>
            </a:r>
            <a:r>
              <a:rPr lang="de-AT" dirty="0"/>
              <a:t> Sensor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C6137A-3AC5-1C3E-E91B-F2030D38C4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FB8E58-E27A-2F8C-FA33-67347C1E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23" y="979206"/>
            <a:ext cx="8063433" cy="528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0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4C286-1113-C886-099C-BB80D018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 Create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049705-A9FB-2CD5-645D-E10EEC9C2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Factory-Method </a:t>
            </a:r>
          </a:p>
          <a:p>
            <a:r>
              <a:rPr lang="de-AT" sz="2400" dirty="0"/>
              <a:t>Validierung Entity-Intern und Entity-übergreifend</a:t>
            </a:r>
          </a:p>
          <a:p>
            <a:pPr lvl="1"/>
            <a:r>
              <a:rPr lang="de-AT" sz="2000" dirty="0" err="1"/>
              <a:t>Specifications</a:t>
            </a:r>
            <a:r>
              <a:rPr lang="de-AT" sz="2000" dirty="0"/>
              <a:t> sind zentral zugreifbar (für UI, </a:t>
            </a:r>
            <a:r>
              <a:rPr lang="de-AT" sz="2000" dirty="0" err="1"/>
              <a:t>Application</a:t>
            </a:r>
            <a:r>
              <a:rPr lang="de-AT" sz="2000" dirty="0"/>
              <a:t>, …)</a:t>
            </a:r>
          </a:p>
          <a:p>
            <a:r>
              <a:rPr lang="de-AT" sz="2400" dirty="0"/>
              <a:t>Rückgabe eines „sauberen“ </a:t>
            </a:r>
            <a:r>
              <a:rPr lang="de-AT" sz="2400" dirty="0" err="1"/>
              <a:t>Entities</a:t>
            </a:r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25442BF-1FAE-4E84-B2A9-B422F97B1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3227040"/>
            <a:ext cx="86296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7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ECF95-590E-B626-8496-13A10C79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ValidationSpecification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F57C24-91E3-5DFD-51FB-4A2875001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Zentrale Ablage der Businesslogik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C2F8B9-685A-7260-011E-FFEAEBEE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7" y="2060848"/>
            <a:ext cx="8011564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7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FCFE50-7212-37D6-85F4-0534C26E1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Application</a:t>
            </a:r>
            <a:r>
              <a:rPr lang="de-AT" dirty="0"/>
              <a:t>-Layer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B4A811-06DF-D17E-B205-CE3773386A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/>
              <a:t>Use-Cases der Anwendung</a:t>
            </a:r>
          </a:p>
          <a:p>
            <a:r>
              <a:rPr lang="de-AT" dirty="0"/>
              <a:t>Im einfachsten Fall CRUD</a:t>
            </a:r>
          </a:p>
          <a:p>
            <a:pPr lvl="1"/>
            <a:r>
              <a:rPr lang="de-AT" dirty="0"/>
              <a:t>Interfaces für die </a:t>
            </a:r>
            <a:r>
              <a:rPr lang="de-AT" dirty="0" err="1"/>
              <a:t>Persistence</a:t>
            </a:r>
            <a:r>
              <a:rPr lang="de-AT" dirty="0"/>
              <a:t> </a:t>
            </a:r>
            <a:r>
              <a:rPr lang="de-AT" dirty="0">
                <a:sym typeface="Wingdings" panose="05000000000000000000" pitchFamily="2" charset="2"/>
              </a:rPr>
              <a:t> Abstraktion nicht Implementierung</a:t>
            </a:r>
            <a:endParaRPr lang="de-AT" dirty="0"/>
          </a:p>
          <a:p>
            <a:r>
              <a:rPr lang="de-AT" dirty="0"/>
              <a:t>Ablauf gibt die Validierung vor (nicht Zustand des </a:t>
            </a:r>
            <a:r>
              <a:rPr lang="de-AT" dirty="0" err="1"/>
              <a:t>Entities</a:t>
            </a:r>
            <a:r>
              <a:rPr lang="de-AT" dirty="0"/>
              <a:t>)</a:t>
            </a:r>
          </a:p>
          <a:p>
            <a:pPr lvl="1"/>
            <a:r>
              <a:rPr lang="de-AT" dirty="0"/>
              <a:t>Beispiel: </a:t>
            </a:r>
            <a:r>
              <a:rPr lang="de-DE" dirty="0"/>
              <a:t>Ein Benutzer kann sein Passwort nur ändern, wenn er das alte Passwort korrekt eingegeben hat.</a:t>
            </a:r>
          </a:p>
          <a:p>
            <a:r>
              <a:rPr lang="de-DE" dirty="0"/>
              <a:t>Häufig: Validierung von DTOs</a:t>
            </a:r>
          </a:p>
          <a:p>
            <a:pPr lvl="1"/>
            <a:r>
              <a:rPr lang="de-DE" dirty="0"/>
              <a:t>Wiederverwendung der </a:t>
            </a:r>
            <a:r>
              <a:rPr lang="de-DE" dirty="0" err="1"/>
              <a:t>ValidationSpecifications</a:t>
            </a:r>
            <a:endParaRPr lang="de-AT" dirty="0"/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7304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0E0E4-5070-55AD-8ECF-39F41E7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Erweiterung der Architektur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944D24-4A71-9F7A-815D-AA21686D7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SRP für Controller </a:t>
            </a:r>
            <a:r>
              <a:rPr lang="de-AT" dirty="0">
                <a:sym typeface="Wingdings" panose="05000000000000000000" pitchFamily="2" charset="2"/>
              </a:rPr>
              <a:t> verschlanken</a:t>
            </a:r>
          </a:p>
          <a:p>
            <a:pPr lvl="1"/>
            <a:r>
              <a:rPr lang="de-AT" dirty="0">
                <a:sym typeface="Wingdings" panose="05000000000000000000" pitchFamily="2" charset="2"/>
              </a:rPr>
              <a:t>CQRS-Pattern</a:t>
            </a:r>
          </a:p>
          <a:p>
            <a:r>
              <a:rPr lang="de-AT" dirty="0">
                <a:sym typeface="Wingdings" panose="05000000000000000000" pitchFamily="2" charset="2"/>
              </a:rPr>
              <a:t>Mapping-Aufgaben über zentralen Mapper (</a:t>
            </a:r>
            <a:r>
              <a:rPr lang="de-AT" dirty="0" err="1">
                <a:sym typeface="Wingdings" panose="05000000000000000000" pitchFamily="2" charset="2"/>
              </a:rPr>
              <a:t>Mapster</a:t>
            </a:r>
            <a:r>
              <a:rPr lang="de-AT" dirty="0">
                <a:sym typeface="Wingdings" panose="05000000000000000000" pitchFamily="2" charset="2"/>
              </a:rPr>
              <a:t>)</a:t>
            </a:r>
          </a:p>
          <a:p>
            <a:r>
              <a:rPr lang="de-AT" dirty="0">
                <a:sym typeface="Wingdings" panose="05000000000000000000" pitchFamily="2" charset="2"/>
              </a:rPr>
              <a:t>Validierung über </a:t>
            </a:r>
            <a:r>
              <a:rPr lang="de-AT" dirty="0" err="1">
                <a:sym typeface="Wingdings" panose="05000000000000000000" pitchFamily="2" charset="2"/>
              </a:rPr>
              <a:t>Fluent</a:t>
            </a:r>
            <a:r>
              <a:rPr lang="de-AT" dirty="0">
                <a:sym typeface="Wingdings" panose="05000000000000000000" pitchFamily="2" charset="2"/>
              </a:rPr>
              <a:t>-Validation</a:t>
            </a:r>
          </a:p>
          <a:p>
            <a:r>
              <a:rPr lang="de-AT" dirty="0">
                <a:sym typeface="Wingdings" panose="05000000000000000000" pitchFamily="2" charset="2"/>
              </a:rPr>
              <a:t>Wer nachlesen will</a:t>
            </a:r>
          </a:p>
          <a:p>
            <a:pPr lvl="1"/>
            <a:r>
              <a:rPr lang="de-AT" dirty="0">
                <a:hlinkClick r:id="rId2"/>
              </a:rPr>
              <a:t>https://www.ezzylearning.net/tutorial/building-blazor-webassembly-apps-with-clean-architecture</a:t>
            </a:r>
            <a:r>
              <a:rPr lang="de-A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642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DC3F11-342E-CAD8-8A2A-B1770DF2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/>
              <a:t>CQRS - Command Query </a:t>
            </a:r>
            <a:r>
              <a:rPr lang="de-AT" sz="2400" dirty="0" err="1"/>
              <a:t>Responsibility</a:t>
            </a:r>
            <a:r>
              <a:rPr lang="de-AT" sz="2400" dirty="0"/>
              <a:t> Segregation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D5C431-59ED-4157-2206-020BF2D9C4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AT" dirty="0"/>
              <a:t>Trennung der </a:t>
            </a:r>
            <a:r>
              <a:rPr lang="de-DE" dirty="0"/>
              <a:t>Lese- und Schreiboperationen einer Anwendung in </a:t>
            </a:r>
            <a:r>
              <a:rPr lang="de-DE" b="1" dirty="0"/>
              <a:t>zwei strikt getrennte Modelle</a:t>
            </a:r>
          </a:p>
          <a:p>
            <a:pPr lvl="1"/>
            <a:r>
              <a:rPr lang="de-DE" b="1" dirty="0" err="1"/>
              <a:t>Queries</a:t>
            </a:r>
            <a:endParaRPr lang="de-DE" b="1" dirty="0"/>
          </a:p>
          <a:p>
            <a:pPr lvl="2"/>
            <a:r>
              <a:rPr lang="de-AT" dirty="0"/>
              <a:t>Reine Leseoperationen liefern DTOs</a:t>
            </a:r>
          </a:p>
          <a:p>
            <a:pPr lvl="1"/>
            <a:r>
              <a:rPr lang="de-AT" b="1" dirty="0" err="1"/>
              <a:t>Commands</a:t>
            </a:r>
            <a:endParaRPr lang="de-AT" b="1" dirty="0"/>
          </a:p>
          <a:p>
            <a:pPr lvl="2"/>
            <a:r>
              <a:rPr lang="de-AT" dirty="0"/>
              <a:t>Datenänderungen</a:t>
            </a:r>
          </a:p>
          <a:p>
            <a:r>
              <a:rPr lang="de-AT" dirty="0"/>
              <a:t>Implementiert mehrere Entwurfsprinzipien</a:t>
            </a:r>
          </a:p>
          <a:p>
            <a:pPr lvl="1"/>
            <a:r>
              <a:rPr lang="de-AT" dirty="0"/>
              <a:t>Single </a:t>
            </a:r>
            <a:r>
              <a:rPr lang="de-AT" dirty="0" err="1"/>
              <a:t>Responsability</a:t>
            </a:r>
            <a:r>
              <a:rPr lang="de-AT" dirty="0"/>
              <a:t> </a:t>
            </a:r>
            <a:r>
              <a:rPr lang="de-AT" dirty="0" err="1"/>
              <a:t>Principle</a:t>
            </a:r>
            <a:r>
              <a:rPr lang="de-AT" dirty="0"/>
              <a:t> aus SOLID</a:t>
            </a:r>
          </a:p>
          <a:p>
            <a:pPr lvl="1"/>
            <a:r>
              <a:rPr lang="de-AT" dirty="0"/>
              <a:t>Separation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Concerns</a:t>
            </a:r>
            <a:endParaRPr lang="de-AT" dirty="0"/>
          </a:p>
          <a:p>
            <a:pPr lvl="1"/>
            <a:r>
              <a:rPr lang="de-AT" dirty="0"/>
              <a:t>Command-Pattern</a:t>
            </a:r>
          </a:p>
          <a:p>
            <a:pPr lvl="2"/>
            <a:r>
              <a:rPr lang="de-AT" dirty="0"/>
              <a:t>Jeder Schreibzugriff ist ein eigener Befehl</a:t>
            </a:r>
          </a:p>
        </p:txBody>
      </p:sp>
    </p:spTree>
    <p:extLst>
      <p:ext uri="{BB962C8B-B14F-4D97-AF65-F5344CB8AC3E}">
        <p14:creationId xmlns:p14="http://schemas.microsoft.com/office/powerpoint/2010/main" val="350706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93BEC-E1A6-C656-7976-E9764E4B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Mediator-Pattern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3821D0-DDB8-4175-C769-7C0883597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Zentraler Kommunikationsknoten zwischen Objekten</a:t>
            </a:r>
          </a:p>
          <a:p>
            <a:pPr lvl="1"/>
            <a:r>
              <a:rPr lang="de-AT" sz="2000" dirty="0"/>
              <a:t>Lose Kopplung </a:t>
            </a:r>
            <a:r>
              <a:rPr lang="de-AT" sz="2000" dirty="0">
                <a:sym typeface="Wingdings" panose="05000000000000000000" pitchFamily="2" charset="2"/>
              </a:rPr>
              <a:t> Objekte kennen nur Mediator</a:t>
            </a:r>
          </a:p>
          <a:p>
            <a:r>
              <a:rPr lang="de-AT" sz="2400" dirty="0">
                <a:sym typeface="Wingdings" panose="05000000000000000000" pitchFamily="2" charset="2"/>
              </a:rPr>
              <a:t>Strukturierung der </a:t>
            </a:r>
            <a:r>
              <a:rPr lang="de-AT" sz="2400" dirty="0" err="1">
                <a:sym typeface="Wingdings" panose="05000000000000000000" pitchFamily="2" charset="2"/>
              </a:rPr>
              <a:t>Requests</a:t>
            </a:r>
            <a:endParaRPr lang="de-AT" sz="2400" dirty="0">
              <a:sym typeface="Wingdings" panose="05000000000000000000" pitchFamily="2" charset="2"/>
            </a:endParaRP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Je Aufgabe ein Handler, der dann vom Mediator aufgerufen wird</a:t>
            </a:r>
          </a:p>
          <a:p>
            <a:r>
              <a:rPr lang="de-AT" sz="2400" dirty="0">
                <a:sym typeface="Wingdings" panose="05000000000000000000" pitchFamily="2" charset="2"/>
              </a:rPr>
              <a:t>Einführung einer Request-Pipeline (</a:t>
            </a:r>
            <a:r>
              <a:rPr lang="de-AT" sz="2400" dirty="0" err="1">
                <a:sym typeface="Wingdings" panose="05000000000000000000" pitchFamily="2" charset="2"/>
              </a:rPr>
              <a:t>IPipelineBehavior</a:t>
            </a:r>
            <a:r>
              <a:rPr lang="de-AT" sz="2400" dirty="0">
                <a:sym typeface="Wingdings" panose="05000000000000000000" pitchFamily="2" charset="2"/>
              </a:rPr>
              <a:t>) für Validation, </a:t>
            </a:r>
            <a:r>
              <a:rPr lang="de-AT" sz="2400" dirty="0" err="1">
                <a:sym typeface="Wingdings" panose="05000000000000000000" pitchFamily="2" charset="2"/>
              </a:rPr>
              <a:t>Logging</a:t>
            </a:r>
            <a:r>
              <a:rPr lang="de-AT" sz="2400" dirty="0">
                <a:sym typeface="Wingdings" panose="05000000000000000000" pitchFamily="2" charset="2"/>
              </a:rPr>
              <a:t>, Caching, …</a:t>
            </a:r>
          </a:p>
          <a:p>
            <a:endParaRPr lang="de-AT" sz="2400" dirty="0">
              <a:sym typeface="Wingdings" panose="05000000000000000000" pitchFamily="2" charset="2"/>
            </a:endParaRPr>
          </a:p>
          <a:p>
            <a:r>
              <a:rPr lang="de-AT" sz="2400" dirty="0">
                <a:sym typeface="Wingdings" panose="05000000000000000000" pitchFamily="2" charset="2"/>
              </a:rPr>
              <a:t>Nachteil: Anwendung wirkt aufgebläht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Mehr Verzeichnisse und Dateien 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Viel </a:t>
            </a:r>
            <a:r>
              <a:rPr lang="de-AT" sz="2000" dirty="0" err="1">
                <a:sym typeface="Wingdings" panose="05000000000000000000" pitchFamily="2" charset="2"/>
              </a:rPr>
              <a:t>Boilerplate</a:t>
            </a:r>
            <a:r>
              <a:rPr lang="de-AT" sz="2000" dirty="0">
                <a:sym typeface="Wingdings" panose="05000000000000000000" pitchFamily="2" charset="2"/>
              </a:rPr>
              <a:t>-Code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Bei kleinen Anwendungen  viel Overhead</a:t>
            </a:r>
          </a:p>
          <a:p>
            <a:pPr lvl="1"/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191529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B2F86-A85F-4FD8-6C18-77A27775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ApplicationLayer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41B20-B5FE-8AB6-B393-4C9B73E83C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C68BF02-6165-94F1-9C6C-2493083F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124744"/>
            <a:ext cx="4176464" cy="541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01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C120C-A238-44C3-45C1-129EAC4A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 err="1"/>
              <a:t>Exceptions</a:t>
            </a:r>
            <a:r>
              <a:rPr lang="de-AT" sz="2400" dirty="0"/>
              <a:t>, die in </a:t>
            </a:r>
            <a:r>
              <a:rPr lang="de-AT" sz="2400" dirty="0" err="1"/>
              <a:t>Results</a:t>
            </a:r>
            <a:r>
              <a:rPr lang="de-AT" sz="2400" dirty="0"/>
              <a:t> umgewandelt werden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AE0B6D-ECE9-5A38-29C6-87720579C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Kommen aus anderen Ebenen</a:t>
            </a:r>
          </a:p>
          <a:p>
            <a:pPr lvl="1"/>
            <a:r>
              <a:rPr lang="de-AT" dirty="0"/>
              <a:t>Z.B. Persistenz mit </a:t>
            </a:r>
            <a:r>
              <a:rPr lang="de-AT" dirty="0" err="1"/>
              <a:t>DbConcurrencyException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A3CDEBB-52D8-2861-4102-EF7A30392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564904"/>
            <a:ext cx="6291844" cy="208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28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CD98E-1FEF-1D2A-CD80-B7C15C11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 err="1"/>
              <a:t>Application</a:t>
            </a:r>
            <a:r>
              <a:rPr lang="de-AT" sz="2800" dirty="0"/>
              <a:t>-Validation mit </a:t>
            </a:r>
            <a:r>
              <a:rPr lang="de-AT" sz="2800" dirty="0" err="1"/>
              <a:t>FluentValidation</a:t>
            </a:r>
            <a:endParaRPr lang="de-AT" sz="28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260639-B7ED-2055-9780-8D356D5DB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1089" y="1125091"/>
            <a:ext cx="8207375" cy="4608165"/>
          </a:xfrm>
        </p:spPr>
        <p:txBody>
          <a:bodyPr/>
          <a:lstStyle/>
          <a:p>
            <a:r>
              <a:rPr lang="de-AT" sz="2400" dirty="0"/>
              <a:t>Validieren auf Use-Case-Ebene</a:t>
            </a:r>
          </a:p>
          <a:p>
            <a:pPr lvl="1"/>
            <a:r>
              <a:rPr lang="de-AT" sz="2000" dirty="0"/>
              <a:t>Z.B. Bei Passwort-Änderung muss das alte Passwort stimmen</a:t>
            </a:r>
          </a:p>
          <a:p>
            <a:pPr lvl="2"/>
            <a:r>
              <a:rPr lang="de-AT" sz="2000" dirty="0"/>
              <a:t>User-Entity hat kein altes Passwort</a:t>
            </a:r>
          </a:p>
          <a:p>
            <a:pPr lvl="1"/>
            <a:r>
              <a:rPr lang="de-AT" sz="2000" dirty="0"/>
              <a:t>Anpassen der Fehlermeldungstexte an Use-Case</a:t>
            </a:r>
          </a:p>
          <a:p>
            <a:endParaRPr lang="de-AT" sz="2400" dirty="0"/>
          </a:p>
          <a:p>
            <a:r>
              <a:rPr lang="de-AT" sz="2400" dirty="0"/>
              <a:t>Jeder Request kann eine eigene Request-Pipeline haben</a:t>
            </a:r>
          </a:p>
          <a:p>
            <a:pPr lvl="1"/>
            <a:r>
              <a:rPr lang="de-AT" sz="2000" dirty="0" err="1"/>
              <a:t>Logging</a:t>
            </a:r>
            <a:r>
              <a:rPr lang="de-AT" sz="2000" dirty="0"/>
              <a:t>, Caching, Validation, …</a:t>
            </a:r>
          </a:p>
          <a:p>
            <a:r>
              <a:rPr lang="de-AT" sz="2400" dirty="0"/>
              <a:t>Logik kann damit vor und nach jedem Handler eingeschleust werden</a:t>
            </a:r>
          </a:p>
          <a:p>
            <a:r>
              <a:rPr lang="de-AT" sz="2400" dirty="0" err="1"/>
              <a:t>MediatR</a:t>
            </a:r>
            <a:r>
              <a:rPr lang="de-AT" sz="2400" dirty="0"/>
              <a:t> bietet dafür Pipeline </a:t>
            </a:r>
            <a:r>
              <a:rPr lang="de-AT" sz="2400" dirty="0" err="1"/>
              <a:t>Behaviors</a:t>
            </a:r>
            <a:r>
              <a:rPr lang="de-AT" sz="2400" dirty="0"/>
              <a:t> an</a:t>
            </a:r>
          </a:p>
        </p:txBody>
      </p:sp>
    </p:spTree>
    <p:extLst>
      <p:ext uri="{BB962C8B-B14F-4D97-AF65-F5344CB8AC3E}">
        <p14:creationId xmlns:p14="http://schemas.microsoft.com/office/powerpoint/2010/main" val="165907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4076F-6B8E-24A1-8CF1-E9C4D877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ValidationBehavior</a:t>
            </a:r>
            <a:r>
              <a:rPr lang="de-AT" dirty="0"/>
              <a:t> in Pipeline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5E2AF1-0FC0-3D74-99D7-7D633C31C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/>
              <a:t>Führt alle </a:t>
            </a:r>
            <a:r>
              <a:rPr lang="de-AT" sz="2000" dirty="0" err="1"/>
              <a:t>Application-Validations</a:t>
            </a:r>
            <a:r>
              <a:rPr lang="de-AT" sz="2000" dirty="0"/>
              <a:t> durch</a:t>
            </a:r>
          </a:p>
          <a:p>
            <a:r>
              <a:rPr lang="de-AT" sz="2000" dirty="0"/>
              <a:t>Liefert im Fehlerfall </a:t>
            </a:r>
            <a:r>
              <a:rPr lang="de-AT" sz="2000" dirty="0" err="1"/>
              <a:t>Result</a:t>
            </a:r>
            <a:r>
              <a:rPr lang="de-AT" sz="2000" dirty="0"/>
              <a:t>-Objekt mit </a:t>
            </a:r>
            <a:r>
              <a:rPr lang="de-AT" sz="2000" dirty="0" err="1"/>
              <a:t>Result</a:t>
            </a:r>
            <a:r>
              <a:rPr lang="de-AT" sz="2000" dirty="0"/>
              <a:t>-Type </a:t>
            </a:r>
            <a:r>
              <a:rPr lang="de-AT" sz="2000" dirty="0" err="1"/>
              <a:t>ValidationError</a:t>
            </a:r>
            <a:endParaRPr lang="de-AT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00B9DB-F8D8-E8C4-0D55-AF9778A9F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888"/>
            <a:ext cx="9144000" cy="289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06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6C8D9-1D3C-21FA-FC0F-2662F548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Per </a:t>
            </a:r>
            <a:r>
              <a:rPr lang="de-AT" dirty="0" err="1"/>
              <a:t>Exception</a:t>
            </a:r>
            <a:r>
              <a:rPr lang="de-AT" dirty="0"/>
              <a:t> übermittelte Errors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951CC1-576F-732D-93ED-DC59C5D5A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1196752"/>
            <a:ext cx="8207375" cy="4608165"/>
          </a:xfrm>
        </p:spPr>
        <p:txBody>
          <a:bodyPr/>
          <a:lstStyle/>
          <a:p>
            <a:r>
              <a:rPr lang="de-AT" dirty="0"/>
              <a:t>Werden in </a:t>
            </a:r>
            <a:r>
              <a:rPr lang="de-AT" dirty="0" err="1"/>
              <a:t>Results</a:t>
            </a:r>
            <a:r>
              <a:rPr lang="de-AT" dirty="0"/>
              <a:t> gemappt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B61CD8B-2E03-1D8A-8A1F-44F78C3D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4" y="2132856"/>
            <a:ext cx="9144000" cy="439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25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31250-EE56-4E54-776E-EA40E035C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Contracts</a:t>
            </a:r>
            <a:r>
              <a:rPr lang="de-AT" dirty="0"/>
              <a:t> für Infrastruktur-Services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37FF5C-3ADC-9CD4-2567-645BC5A5C2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Auch DAL ist Infrastruktur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C6F00D-E923-F19A-806C-3EED7413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204864"/>
            <a:ext cx="6624736" cy="320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95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44422-02BC-84CD-8E41-CC634CF6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Eigentliche Funktionslogik in Features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32039F-41C3-A30B-7527-9C367642C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1268760"/>
            <a:ext cx="4751759" cy="4608165"/>
          </a:xfrm>
        </p:spPr>
        <p:txBody>
          <a:bodyPr/>
          <a:lstStyle/>
          <a:p>
            <a:r>
              <a:rPr lang="de-AT" sz="2400" dirty="0" err="1"/>
              <a:t>Commands</a:t>
            </a:r>
            <a:endParaRPr lang="de-AT" sz="2400" dirty="0"/>
          </a:p>
          <a:p>
            <a:pPr lvl="1"/>
            <a:r>
              <a:rPr lang="de-AT" sz="2000" dirty="0"/>
              <a:t>Sind gleichzeitig DTO</a:t>
            </a:r>
          </a:p>
          <a:p>
            <a:pPr lvl="1"/>
            <a:r>
              <a:rPr lang="de-AT" sz="2000" dirty="0"/>
              <a:t>Definieren Validation</a:t>
            </a:r>
          </a:p>
          <a:p>
            <a:pPr lvl="1"/>
            <a:r>
              <a:rPr lang="de-AT" sz="2000" dirty="0"/>
              <a:t>Liefern </a:t>
            </a:r>
            <a:r>
              <a:rPr lang="de-AT" sz="2000" dirty="0" err="1"/>
              <a:t>Result</a:t>
            </a:r>
            <a:r>
              <a:rPr lang="de-AT" sz="2000" dirty="0"/>
              <a:t>&lt;</a:t>
            </a:r>
            <a:r>
              <a:rPr lang="de-AT" sz="2000" dirty="0" err="1"/>
              <a:t>Dto</a:t>
            </a:r>
            <a:r>
              <a:rPr lang="de-AT" sz="2000" dirty="0"/>
              <a:t>&gt;</a:t>
            </a:r>
          </a:p>
          <a:p>
            <a:r>
              <a:rPr lang="de-AT" sz="2400" dirty="0" err="1"/>
              <a:t>Queries</a:t>
            </a:r>
            <a:endParaRPr lang="de-AT" sz="2400" dirty="0"/>
          </a:p>
          <a:p>
            <a:pPr lvl="1"/>
            <a:r>
              <a:rPr lang="de-AT" sz="2000" dirty="0"/>
              <a:t>Wiederverwendbare </a:t>
            </a:r>
            <a:r>
              <a:rPr lang="de-AT" sz="2000" dirty="0" err="1"/>
              <a:t>Requests</a:t>
            </a:r>
            <a:endParaRPr lang="de-AT" sz="2000" dirty="0"/>
          </a:p>
          <a:p>
            <a:pPr lvl="1"/>
            <a:r>
              <a:rPr lang="de-AT" sz="2000" dirty="0"/>
              <a:t>Liefern auch </a:t>
            </a:r>
            <a:r>
              <a:rPr lang="de-AT" sz="2000" dirty="0" err="1"/>
              <a:t>Result</a:t>
            </a:r>
            <a:r>
              <a:rPr lang="de-AT" sz="2000" dirty="0"/>
              <a:t>&lt;</a:t>
            </a:r>
            <a:r>
              <a:rPr lang="de-AT" sz="2000" dirty="0" err="1"/>
              <a:t>Dto</a:t>
            </a:r>
            <a:r>
              <a:rPr lang="de-AT" sz="2000" dirty="0"/>
              <a:t>&gt;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EC513F-0B75-4839-1CDD-1B07E3C8E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1236165"/>
            <a:ext cx="4130177" cy="468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67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500F8-5D2A-302A-2659-A8CCCC30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Beispiel: </a:t>
            </a:r>
            <a:r>
              <a:rPr lang="de-AT" dirty="0" err="1"/>
              <a:t>CreateSensorCommand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C802A3-E53C-9E0C-68FD-DE3C7AAB1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Universell einsetzbar</a:t>
            </a:r>
          </a:p>
          <a:p>
            <a:pPr lvl="1"/>
            <a:r>
              <a:rPr lang="de-AT" dirty="0"/>
              <a:t>API, </a:t>
            </a:r>
            <a:r>
              <a:rPr lang="de-AT" dirty="0" err="1"/>
              <a:t>Blazor</a:t>
            </a:r>
            <a:r>
              <a:rPr lang="de-AT" dirty="0"/>
              <a:t>, Tests, …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475D559-FBF5-CCFB-44A6-2AB229BF4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87" y="2564904"/>
            <a:ext cx="6398425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38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9E567-3692-EF47-B07C-B7B84D93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Command definiert Signatur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370A20-D61D-FD28-3A13-31EFFAA374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 err="1"/>
              <a:t>Immutable</a:t>
            </a:r>
            <a:r>
              <a:rPr lang="de-AT" sz="2400" dirty="0"/>
              <a:t> Wertetyp </a:t>
            </a:r>
            <a:r>
              <a:rPr lang="de-AT" sz="2400" dirty="0">
                <a:sym typeface="Wingdings" panose="05000000000000000000" pitchFamily="2" charset="2"/>
              </a:rPr>
              <a:t> leichtgewichtig ohne Referenzlogik</a:t>
            </a:r>
          </a:p>
          <a:p>
            <a:r>
              <a:rPr lang="de-AT" sz="2400" dirty="0">
                <a:sym typeface="Wingdings" panose="05000000000000000000" pitchFamily="2" charset="2"/>
              </a:rPr>
              <a:t>Parameter beschreiben DTO</a:t>
            </a:r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BB692B1-0132-ABC8-0956-7AB982702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96952"/>
            <a:ext cx="7772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81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A9F3C-F1F4-AB63-8C90-F7D1ECA5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CommandHandler</a:t>
            </a:r>
            <a:r>
              <a:rPr lang="de-AT" dirty="0"/>
              <a:t>-Logik bleibt sauber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8F12D4-020C-29FB-6E1F-1C4B314148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Validierung findet über Pipeline statt</a:t>
            </a:r>
          </a:p>
          <a:p>
            <a:r>
              <a:rPr lang="de-AT" dirty="0"/>
              <a:t>Mapping Entity </a:t>
            </a:r>
            <a:r>
              <a:rPr lang="de-AT" dirty="0">
                <a:sym typeface="Wingdings" panose="05000000000000000000" pitchFamily="2" charset="2"/>
              </a:rPr>
              <a:t> DTO über </a:t>
            </a:r>
            <a:r>
              <a:rPr lang="de-AT" dirty="0" err="1">
                <a:sym typeface="Wingdings" panose="05000000000000000000" pitchFamily="2" charset="2"/>
              </a:rPr>
              <a:t>Mapster</a:t>
            </a:r>
            <a:r>
              <a:rPr lang="de-AT" dirty="0">
                <a:sym typeface="Wingdings" panose="05000000000000000000" pitchFamily="2" charset="2"/>
              </a:rPr>
              <a:t> 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58DB89-172C-6BBF-78F8-139F3CB77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2780928"/>
            <a:ext cx="77724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53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04A4D5-5155-7FF5-CA82-7DCE14A4B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Validation über </a:t>
            </a:r>
            <a:r>
              <a:rPr lang="de-AT" dirty="0" err="1"/>
              <a:t>Behavior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89DDB4-486A-8122-6A75-32822DF0F7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504" y="1124744"/>
            <a:ext cx="8207375" cy="4608165"/>
          </a:xfrm>
        </p:spPr>
        <p:txBody>
          <a:bodyPr/>
          <a:lstStyle/>
          <a:p>
            <a:r>
              <a:rPr lang="de-AT" dirty="0"/>
              <a:t>Bei Sensor überflüssig</a:t>
            </a:r>
          </a:p>
          <a:p>
            <a:pPr lvl="1"/>
            <a:r>
              <a:rPr lang="de-AT" dirty="0"/>
              <a:t>Findet schon auf Domain-Ebene statt</a:t>
            </a:r>
          </a:p>
          <a:p>
            <a:pPr lvl="2"/>
            <a:r>
              <a:rPr lang="de-AT" dirty="0"/>
              <a:t>Wird als </a:t>
            </a:r>
            <a:r>
              <a:rPr lang="de-AT" dirty="0" err="1"/>
              <a:t>Exception</a:t>
            </a:r>
            <a:r>
              <a:rPr lang="de-AT" dirty="0"/>
              <a:t> gemeldet und per </a:t>
            </a:r>
            <a:r>
              <a:rPr lang="de-AT" dirty="0" err="1"/>
              <a:t>Middlewarein</a:t>
            </a:r>
            <a:r>
              <a:rPr lang="de-AT" dirty="0"/>
              <a:t> </a:t>
            </a:r>
            <a:r>
              <a:rPr lang="de-AT" dirty="0" err="1"/>
              <a:t>Result</a:t>
            </a:r>
            <a:r>
              <a:rPr lang="de-AT" dirty="0"/>
              <a:t> gemappt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8CC4613-2E48-C419-CC10-13932BC7F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22" y="3140968"/>
            <a:ext cx="9144000" cy="27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83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20C10-D5D7-CD35-A9C3-6AEC121B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 </a:t>
            </a:r>
            <a:r>
              <a:rPr lang="de-AT" dirty="0" err="1"/>
              <a:t>Application</a:t>
            </a:r>
            <a:r>
              <a:rPr lang="de-AT" dirty="0"/>
              <a:t>-Validation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913A27-3686-3A5A-916E-5E9A3ACA9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1052736"/>
            <a:ext cx="8207375" cy="4608165"/>
          </a:xfrm>
        </p:spPr>
        <p:txBody>
          <a:bodyPr/>
          <a:lstStyle/>
          <a:p>
            <a:r>
              <a:rPr lang="de-AT" sz="2400" dirty="0" err="1"/>
              <a:t>CreateMeasurementCommand</a:t>
            </a:r>
            <a:endParaRPr lang="de-AT" sz="2400" dirty="0"/>
          </a:p>
          <a:p>
            <a:pPr lvl="1"/>
            <a:r>
              <a:rPr lang="de-AT" sz="2000" dirty="0"/>
              <a:t>Messwert darf nicht in der Zukunft liegen und nicht älter als eine Stunde sein</a:t>
            </a:r>
          </a:p>
          <a:p>
            <a:pPr lvl="1"/>
            <a:r>
              <a:rPr lang="de-AT" sz="2000" dirty="0" err="1"/>
              <a:t>DomainValidation</a:t>
            </a:r>
            <a:r>
              <a:rPr lang="de-AT" sz="2000" dirty="0"/>
              <a:t> nicht sinnvoll, da sonst kein Import historischer Daten möglich ist  </a:t>
            </a:r>
            <a:r>
              <a:rPr lang="de-AT" sz="2000" dirty="0">
                <a:sym typeface="Wingdings" panose="05000000000000000000" pitchFamily="2" charset="2"/>
              </a:rPr>
              <a:t> </a:t>
            </a:r>
            <a:r>
              <a:rPr lang="de-AT" sz="2000" dirty="0" err="1">
                <a:sym typeface="Wingdings" panose="05000000000000000000" pitchFamily="2" charset="2"/>
              </a:rPr>
              <a:t>UseCase</a:t>
            </a:r>
            <a:r>
              <a:rPr lang="de-AT" sz="2000" dirty="0">
                <a:sym typeface="Wingdings" panose="05000000000000000000" pitchFamily="2" charset="2"/>
              </a:rPr>
              <a:t>-spezifisch</a:t>
            </a:r>
            <a:endParaRPr lang="de-AT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AD90BD-42D7-D54D-C420-49D4841F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2976"/>
            <a:ext cx="87630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05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9DD73-86B9-CDBB-4279-0D5BE7D7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Queries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4B392F-10EE-92F1-1898-A4A0B7E16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Request-Definition ist wieder Einzeiler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CA7A2B-532E-0204-FC97-7EA9E786D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060848"/>
            <a:ext cx="86677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46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90EF4-FCCF-6CE0-07D5-CBFF0260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Query-</a:t>
            </a:r>
            <a:r>
              <a:rPr lang="de-AT" dirty="0" err="1"/>
              <a:t>RequestHandler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95EE7F-5DB6-4BBB-03E9-C67BCB7121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Fehlerfall </a:t>
            </a:r>
            <a:r>
              <a:rPr lang="de-AT" dirty="0">
                <a:sym typeface="Wingdings" panose="05000000000000000000" pitchFamily="2" charset="2"/>
              </a:rPr>
              <a:t> Factory-Method nutzen</a:t>
            </a:r>
          </a:p>
          <a:p>
            <a:r>
              <a:rPr lang="de-AT" dirty="0">
                <a:sym typeface="Wingdings" panose="05000000000000000000" pitchFamily="2" charset="2"/>
              </a:rPr>
              <a:t>Sonst </a:t>
            </a:r>
            <a:r>
              <a:rPr lang="de-AT" dirty="0" err="1">
                <a:sym typeface="Wingdings" panose="05000000000000000000" pitchFamily="2" charset="2"/>
              </a:rPr>
              <a:t>Result</a:t>
            </a:r>
            <a:r>
              <a:rPr lang="de-AT" dirty="0">
                <a:sym typeface="Wingdings" panose="05000000000000000000" pitchFamily="2" charset="2"/>
              </a:rPr>
              <a:t>&lt;</a:t>
            </a:r>
            <a:r>
              <a:rPr lang="de-AT" dirty="0" err="1">
                <a:sym typeface="Wingdings" panose="05000000000000000000" pitchFamily="2" charset="2"/>
              </a:rPr>
              <a:t>Dto</a:t>
            </a:r>
            <a:r>
              <a:rPr lang="de-AT" dirty="0">
                <a:sym typeface="Wingdings" panose="05000000000000000000" pitchFamily="2" charset="2"/>
              </a:rPr>
              <a:t>&gt; zurückliefern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44A568-E475-64A7-E25E-694F865D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3" y="2636912"/>
            <a:ext cx="9144000" cy="180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64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8E8BA3-A9A1-754D-D8A1-86F7E71E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DI-Services für </a:t>
            </a:r>
            <a:r>
              <a:rPr lang="de-AT" sz="2800" dirty="0" err="1"/>
              <a:t>Applicationlayer</a:t>
            </a:r>
            <a:r>
              <a:rPr lang="de-AT" sz="2800" dirty="0"/>
              <a:t> registrieren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49E65D-392C-BF61-7F52-8F77A82AA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Program.cs</a:t>
            </a:r>
            <a:r>
              <a:rPr lang="de-AT" dirty="0"/>
              <a:t> von </a:t>
            </a:r>
            <a:r>
              <a:rPr lang="de-AT" dirty="0" err="1"/>
              <a:t>Api</a:t>
            </a:r>
            <a:r>
              <a:rPr lang="de-AT" dirty="0"/>
              <a:t>, </a:t>
            </a:r>
            <a:r>
              <a:rPr lang="de-AT" dirty="0" err="1"/>
              <a:t>Blazor</a:t>
            </a:r>
            <a:r>
              <a:rPr lang="de-AT" dirty="0"/>
              <a:t> … bleibt sauber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EDF447-A47C-5C3C-8445-39B5EF53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91" y="2204864"/>
            <a:ext cx="9144000" cy="397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52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E4BF0-458C-B001-EE3F-80889240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Services sind zu implementieren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F6B7CF-A418-637B-1FB0-AC9185E556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F3F7010-4A55-9B65-5D98-47B0F24E9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412776"/>
            <a:ext cx="4752526" cy="386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7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5B49B-5855-8136-9887-9CE3AE7C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AppDbContext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3B3A02-277A-5EEC-D7F5-B4277AE57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DbSets</a:t>
            </a:r>
            <a:r>
              <a:rPr lang="de-AT" dirty="0"/>
              <a:t> und Datenbankstruktur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5FE3DD-0C14-6AB3-5285-A4E61B76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0" y="2144092"/>
            <a:ext cx="8191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89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41393-8C5D-DD07-C2E4-63D2557C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AppDbContext</a:t>
            </a:r>
            <a:r>
              <a:rPr lang="de-AT" dirty="0"/>
              <a:t> – </a:t>
            </a:r>
            <a:r>
              <a:rPr lang="de-AT" dirty="0" err="1"/>
              <a:t>OnModelCreating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96E53E-1334-20BE-0926-E7BCC7177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 err="1"/>
              <a:t>Fluent</a:t>
            </a:r>
            <a:r>
              <a:rPr lang="de-AT" sz="2000" dirty="0"/>
              <a:t>-Definition statt Annotationen im </a:t>
            </a:r>
            <a:r>
              <a:rPr lang="de-AT" sz="2000" dirty="0" err="1"/>
              <a:t>Domainlayer</a:t>
            </a:r>
            <a:endParaRPr lang="de-AT" sz="2000" dirty="0"/>
          </a:p>
          <a:p>
            <a:r>
              <a:rPr lang="de-AT" sz="2000" dirty="0"/>
              <a:t>Beispiel: Sensor mit </a:t>
            </a:r>
            <a:r>
              <a:rPr lang="de-AT" sz="2000" dirty="0" err="1"/>
              <a:t>Uniqueness</a:t>
            </a:r>
            <a:r>
              <a:rPr lang="de-AT" sz="2000" dirty="0"/>
              <a:t>-Index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0A30D04-B55C-9C64-5CA5-1AC45BD8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426114"/>
            <a:ext cx="69532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02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FD94D1-1DE5-1F24-7053-EEC056A8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UnitOfWork</a:t>
            </a:r>
            <a:r>
              <a:rPr lang="de-AT" dirty="0"/>
              <a:t> und </a:t>
            </a:r>
            <a:r>
              <a:rPr lang="de-AT" dirty="0" err="1"/>
              <a:t>Repositories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13802E-9D80-64F7-F350-0B7F4E2F37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148C4C-CB93-6D25-036D-E1F5A5D1D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453"/>
            <a:ext cx="9144000" cy="369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00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20CE0-495B-111F-401C-312FA394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GenericRepository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266CA5-FCD6-2C80-D6C9-78A0B7105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980728"/>
            <a:ext cx="8207375" cy="4608165"/>
          </a:xfrm>
        </p:spPr>
        <p:txBody>
          <a:bodyPr/>
          <a:lstStyle/>
          <a:p>
            <a:r>
              <a:rPr lang="de-AT" sz="2400" dirty="0"/>
              <a:t>Ähnlich der bisherigen Implementierung</a:t>
            </a:r>
          </a:p>
          <a:p>
            <a:r>
              <a:rPr lang="de-AT" sz="2400" dirty="0"/>
              <a:t>Keine Includes verwendet </a:t>
            </a:r>
            <a:r>
              <a:rPr lang="de-AT" sz="2400" dirty="0">
                <a:sym typeface="Wingdings" panose="05000000000000000000" pitchFamily="2" charset="2"/>
              </a:rPr>
              <a:t> eigenes Repo</a:t>
            </a:r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45B0B8-6AD7-8468-C1BC-4A6F158D4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2132856"/>
            <a:ext cx="9144000" cy="404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28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F6B08-8136-F780-C0AC-A515C1D7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StartupDataSeeder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D33A4E-9430-AE6A-4EA8-6EBB308E73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13C725-D8DA-8CD8-F5EB-4D6E6DB6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09072"/>
            <a:ext cx="8784976" cy="403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35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FAA800-E7DB-E1EF-D80E-0D6041AA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8E8B3C-559B-28CE-737A-9AF5157D69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Controller verwenden Mediator um </a:t>
            </a:r>
            <a:r>
              <a:rPr lang="de-AT" sz="2400" dirty="0" err="1"/>
              <a:t>Requests</a:t>
            </a:r>
            <a:r>
              <a:rPr lang="de-AT" sz="2400" dirty="0"/>
              <a:t> abzusetzen </a:t>
            </a:r>
          </a:p>
          <a:p>
            <a:r>
              <a:rPr lang="de-AT" sz="2400" dirty="0" err="1"/>
              <a:t>Result</a:t>
            </a:r>
            <a:r>
              <a:rPr lang="de-AT" sz="2400" dirty="0"/>
              <a:t>&lt;T&gt; wird in Response umgewandelt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128F19-0249-E355-9E10-C15318F9E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440318"/>
            <a:ext cx="3312368" cy="336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88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A82ED-5C1D-74AB-B72C-DE0F463FD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Result</a:t>
            </a:r>
            <a:r>
              <a:rPr lang="de-AT" dirty="0"/>
              <a:t> in Response umwandeln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8AACFA-14A7-86D8-FFB9-20D472C4D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0A59ED-4608-4B50-2752-6A62D0B5A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071562"/>
            <a:ext cx="82486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390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43F4B0-7819-1DCE-9299-5882D634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Action bleibt übersichtlich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D57DAC-AB67-7AD8-D73C-F5C777DF47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ADF5AB-9C32-F495-6C3B-057E18B8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04" y="1268413"/>
            <a:ext cx="8029983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01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ABA1F-BA6C-D789-07FF-1F670F5A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auch im Fehlerfall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D5EFA0-93BE-435A-DC0B-2F6B82E80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68A6872-5BF6-7937-26B9-6142C906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0218"/>
            <a:ext cx="9144000" cy="351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20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58B5B-0625-0F09-AFF2-06935570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Tests runden Template ab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F4503C-88C0-B67F-1DBD-6F3DA5771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56E8E9-8F8F-92D4-8118-7E82F427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1166812"/>
            <a:ext cx="51339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32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F8874-211B-2F13-3C5A-F5CE4DD2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Swagger als UI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1F22E6-D6D1-4C9F-6003-25181F7766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B32D88-B15A-F8A6-CF0D-54DFF5060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035" y="981075"/>
            <a:ext cx="5699930" cy="57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48224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1080</Words>
  <Application>Microsoft Office PowerPoint</Application>
  <PresentationFormat>Bildschirmpräsentation (4:3)</PresentationFormat>
  <Paragraphs>191</Paragraphs>
  <Slides>44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49" baseType="lpstr">
      <vt:lpstr>Arial</vt:lpstr>
      <vt:lpstr>Calibri</vt:lpstr>
      <vt:lpstr>Symbol</vt:lpstr>
      <vt:lpstr>Wingdings</vt:lpstr>
      <vt:lpstr>2_Larissa</vt:lpstr>
      <vt:lpstr>Basis-Template für Blazor-Apps</vt:lpstr>
      <vt:lpstr>SOLID – wartbar und sauber</vt:lpstr>
      <vt:lpstr>Abhängigkeiten</vt:lpstr>
      <vt:lpstr>Im Solutionexplorer</vt:lpstr>
      <vt:lpstr>Domain-Layer</vt:lpstr>
      <vt:lpstr>Domainlayer mit Template-Code (grün)</vt:lpstr>
      <vt:lpstr>BaseEntity</vt:lpstr>
      <vt:lpstr>DomainValidationException</vt:lpstr>
      <vt:lpstr>DomainValidationResult</vt:lpstr>
      <vt:lpstr>Domain-Entity - Verantwortlichkeit</vt:lpstr>
      <vt:lpstr>Beispielentity Sensor</vt:lpstr>
      <vt:lpstr>Beispiel Create</vt:lpstr>
      <vt:lpstr>ValidationSpecification</vt:lpstr>
      <vt:lpstr>Application-Layer</vt:lpstr>
      <vt:lpstr>Erweiterung der Architektur</vt:lpstr>
      <vt:lpstr>CQRS - Command Query Responsibility Segregation</vt:lpstr>
      <vt:lpstr>Mediator-Pattern</vt:lpstr>
      <vt:lpstr>ApplicationLayer</vt:lpstr>
      <vt:lpstr>Exceptions, die in Results umgewandelt werden</vt:lpstr>
      <vt:lpstr>Application-Validation mit FluentValidation</vt:lpstr>
      <vt:lpstr>ValidationBehavior in Pipeline</vt:lpstr>
      <vt:lpstr>Per Exception übermittelte Errors</vt:lpstr>
      <vt:lpstr>Contracts für Infrastruktur-Services</vt:lpstr>
      <vt:lpstr>Eigentliche Funktionslogik in Features</vt:lpstr>
      <vt:lpstr>Beispiel: CreateSensorCommand</vt:lpstr>
      <vt:lpstr>Command definiert Signatur</vt:lpstr>
      <vt:lpstr>CommandHandler-Logik bleibt sauber</vt:lpstr>
      <vt:lpstr>Validation über Behavior</vt:lpstr>
      <vt:lpstr>Beispiel Application-Validation</vt:lpstr>
      <vt:lpstr>Queries</vt:lpstr>
      <vt:lpstr>Query-RequestHandler</vt:lpstr>
      <vt:lpstr>DI-Services für Applicationlayer registrieren</vt:lpstr>
      <vt:lpstr>Services sind zu implementieren</vt:lpstr>
      <vt:lpstr>AppDbContext</vt:lpstr>
      <vt:lpstr>AppDbContext – OnModelCreating</vt:lpstr>
      <vt:lpstr>UnitOfWork und Repositories</vt:lpstr>
      <vt:lpstr>GenericRepository</vt:lpstr>
      <vt:lpstr>StartupDataSeeder</vt:lpstr>
      <vt:lpstr>API</vt:lpstr>
      <vt:lpstr>Result in Response umwandeln</vt:lpstr>
      <vt:lpstr>Action bleibt übersichtlich …</vt:lpstr>
      <vt:lpstr>… auch im Fehlerfall</vt:lpstr>
      <vt:lpstr>Tests runden Template ab</vt:lpstr>
      <vt:lpstr>Swagger als 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533</cp:revision>
  <dcterms:created xsi:type="dcterms:W3CDTF">2011-08-18T07:37:01Z</dcterms:created>
  <dcterms:modified xsi:type="dcterms:W3CDTF">2025-10-21T12:43:28Z</dcterms:modified>
</cp:coreProperties>
</file>